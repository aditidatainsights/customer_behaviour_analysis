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1C4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95360" y="914400"/>
            <a:ext cx="2468880" cy="2468880"/>
          </a:xfrm>
          <a:prstGeom prst="ellipse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66960" y="2788920"/>
            <a:ext cx="1417320" cy="1417320"/>
          </a:xfrm>
          <a:prstGeom prst="ellipse">
            <a:avLst/>
          </a:prstGeom>
          <a:solidFill>
            <a:srgbClr val="E5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138160" y="4251960"/>
            <a:ext cx="2011680" cy="2011680"/>
          </a:xfrm>
          <a:prstGeom prst="ellipse">
            <a:avLst/>
          </a:prstGeom>
          <a:solidFill>
            <a:srgbClr val="27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69880" y="5074920"/>
            <a:ext cx="658368" cy="658368"/>
          </a:xfrm>
          <a:prstGeom prst="ellipse">
            <a:avLst/>
          </a:prstGeom>
          <a:solidFill>
            <a:srgbClr val="74B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92DADA"/>
                </a:solidFill>
                <a:latin typeface="Aptos"/>
              </a:defRPr>
            </a:pPr>
            <a:r>
              <a:t>INVESTOR PRESENTATION  |  CUSTOMER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81228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Turning shopping</a:t>
            </a:r>
          </a:p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behavior into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227832"/>
            <a:ext cx="61264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700" b="0">
                <a:solidFill>
                  <a:srgbClr val="DAE5EF"/>
                </a:solidFill>
                <a:latin typeface="Aptos"/>
              </a:defRPr>
            </a:pPr>
            <a:r>
              <a:t>A transaction-led view of customer value, loyalty, product demand and commercial opportunities.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4663440"/>
            <a:ext cx="1005840" cy="64008"/>
          </a:xfrm>
          <a:prstGeom prst="rect">
            <a:avLst/>
          </a:prstGeom>
          <a:solidFill>
            <a:srgbClr val="E5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495604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3,900 PURCHASES  •  18 CUSTOMER &amp; TRANSACTION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2636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B5C7D8"/>
                </a:solidFill>
                <a:latin typeface="Aptos"/>
              </a:defRPr>
            </a:pPr>
            <a:r>
              <a:t>Prepared from the provided customer shopping behavior analysis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32764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DATA-LED RETAIL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00919B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t>A clear path from customer data to commercial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2471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0">
                <a:solidFill>
                  <a:srgbClr val="657484"/>
                </a:solidFill>
                <a:latin typeface="Aptos"/>
              </a:defRPr>
            </a:pPr>
            <a:r>
              <a:t>The analysis provides a practical baseline for improving retention, merchandising and promotional discipline.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2881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57484"/>
                </a:solidFill>
                <a:latin typeface="Aptos"/>
              </a:defRPr>
            </a:pPr>
            <a:r>
              <a:t>CUSTOMER SHOPPING BEHAVIOUR ANALYSIS  •  SOURCE: PROVIDED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6574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45920"/>
            <a:ext cx="3977639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200" b="1">
                <a:solidFill>
                  <a:srgbClr val="162F4F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48840"/>
            <a:ext cx="397763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0">
                <a:solidFill>
                  <a:srgbClr val="263342"/>
                </a:solidFill>
                <a:latin typeface="Aptos"/>
              </a:defRPr>
            </a:pPr>
            <a:r>
              <a:t>Convert a broad purchase base into higher-value customer relationships—using loyalty, targeted offers and product-led campaigns.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600200"/>
            <a:ext cx="2057400" cy="14630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92040" y="1600200"/>
            <a:ext cx="64008" cy="14630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93207" y="1764792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657484"/>
                </a:solidFill>
                <a:latin typeface="Aptos"/>
              </a:defRPr>
            </a:pPr>
            <a:r>
              <a:t>PURCHASES ANALYZED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2103120"/>
            <a:ext cx="16916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500" b="1">
                <a:solidFill>
                  <a:srgbClr val="162F4F"/>
                </a:solidFill>
                <a:latin typeface="Aptos"/>
              </a:defRPr>
            </a:pPr>
            <a:r>
              <a:t>3,900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2587752"/>
            <a:ext cx="1691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Across four product 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600200"/>
            <a:ext cx="2057400" cy="14630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78040" y="1600200"/>
            <a:ext cx="64008" cy="1463040"/>
          </a:xfrm>
          <a:prstGeom prst="rect">
            <a:avLst/>
          </a:prstGeom>
          <a:solidFill>
            <a:srgbClr val="27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9208" y="1764792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657484"/>
                </a:solidFill>
                <a:latin typeface="Aptos"/>
              </a:defRPr>
            </a:pPr>
            <a:r>
              <a:t>AVERAGE BASKET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2103120"/>
            <a:ext cx="16916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500" b="1">
                <a:solidFill>
                  <a:srgbClr val="162F4F"/>
                </a:solidFill>
                <a:latin typeface="Aptos"/>
              </a:defRPr>
            </a:pPr>
            <a:r>
              <a:t>$59.76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2587752"/>
            <a:ext cx="1691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Dashboard KPI reported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1600200"/>
            <a:ext cx="2057400" cy="14630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64040" y="1600200"/>
            <a:ext cx="64008" cy="1463040"/>
          </a:xfrm>
          <a:prstGeom prst="rect">
            <a:avLst/>
          </a:prstGeom>
          <a:solidFill>
            <a:srgbClr val="E5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65208" y="1764792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657484"/>
                </a:solidFill>
                <a:latin typeface="Aptos"/>
              </a:defRPr>
            </a:pPr>
            <a:r>
              <a:t>AVG. REVIEW RATING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5208" y="2103120"/>
            <a:ext cx="16916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500" b="1">
                <a:solidFill>
                  <a:srgbClr val="162F4F"/>
                </a:solidFill>
                <a:latin typeface="Aptos"/>
              </a:defRPr>
            </a:pPr>
            <a:r>
              <a:t>3.75 /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8" y="2587752"/>
            <a:ext cx="1691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37 missing ratings imputed by category median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474720"/>
            <a:ext cx="10881360" cy="2331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7307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00919B"/>
                </a:solidFill>
                <a:latin typeface="Aptos"/>
              </a:defRPr>
            </a:pPr>
            <a:r>
              <a:t>WHAT THE DATA SAYS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206240"/>
            <a:ext cx="73152" cy="502920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9848" y="4160520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400" b="1">
                <a:solidFill>
                  <a:srgbClr val="162F4F"/>
                </a:solidFill>
                <a:latin typeface="Aptos"/>
              </a:defRPr>
            </a:pPr>
            <a:r>
              <a:t>Loyalty is established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4434840"/>
            <a:ext cx="3063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3,116 customers classified as loyal; 701 returning and 83 new.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4206240"/>
            <a:ext cx="73152" cy="502920"/>
          </a:xfrm>
          <a:prstGeom prst="roundRect">
            <a:avLst>
              <a:gd name="adj" fmla="val 12000"/>
            </a:avLst>
          </a:prstGeom>
          <a:solidFill>
            <a:srgbClr val="E5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44568" y="4160520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400" b="1">
                <a:solidFill>
                  <a:srgbClr val="162F4F"/>
                </a:solidFill>
                <a:latin typeface="Aptos"/>
              </a:defRPr>
            </a:pPr>
            <a:r>
              <a:t>Discounts merit scrutiny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4434840"/>
            <a:ext cx="3063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Top five products have discount incidence of roughly 47%–50%.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4206240"/>
            <a:ext cx="73152" cy="502920"/>
          </a:xfrm>
          <a:prstGeom prst="roundRect">
            <a:avLst>
              <a:gd name="adj" fmla="val 12000"/>
            </a:avLst>
          </a:prstGeom>
          <a:solidFill>
            <a:srgbClr val="27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19288" y="41605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400" b="1">
                <a:solidFill>
                  <a:srgbClr val="162F4F"/>
                </a:solidFill>
                <a:latin typeface="Aptos"/>
              </a:defRPr>
            </a:pPr>
            <a:r>
              <a:t>Room to grow subscriptions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4434840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1,053 subscribers vs. 2,847 non-subscribers; average spend is similar.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98932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Investor lens: prioritize repeat engagement and profitable conversion—not discounts or subscriptions in isolation.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00919B"/>
                </a:solidFill>
                <a:latin typeface="Aptos"/>
              </a:defRPr>
            </a:pPr>
            <a:r>
              <a:t>ANALYTICAL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t>A structured dataset supports actionable customer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2471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0">
                <a:solidFill>
                  <a:srgbClr val="657484"/>
                </a:solidFill>
                <a:latin typeface="Aptos"/>
              </a:defRPr>
            </a:pPr>
            <a:r>
              <a:t>Python preparation → PostgreSQL business analysis → Power BI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2881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57484"/>
                </a:solidFill>
                <a:latin typeface="Aptos"/>
              </a:defRPr>
            </a:pPr>
            <a:r>
              <a:t>CUSTOMER SHOPPING BEHAVIOUR ANALYSIS  •  SOURCE: PROVIDED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6574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429000" cy="21031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700" b="1">
                <a:solidFill>
                  <a:srgbClr val="00919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800" b="1">
                <a:solidFill>
                  <a:srgbClr val="162F4F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6148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657484"/>
                </a:solidFill>
                <a:latin typeface="Aptos"/>
              </a:defRPr>
            </a:pPr>
            <a:r>
              <a:t>Clean and standardize data; impute 37 missing product ratings using category medians; engineer age and purchase-frequency fields.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91640"/>
            <a:ext cx="3429000" cy="21031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190195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700" b="1">
                <a:solidFill>
                  <a:srgbClr val="00919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317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800" b="1">
                <a:solidFill>
                  <a:srgbClr val="162F4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76148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657484"/>
                </a:solidFill>
                <a:latin typeface="Aptos"/>
              </a:defRPr>
            </a:pPr>
            <a:r>
              <a:t>Use SQL to compare revenue, segments, shipping, discounts, subscriptions, product ratings and category demand.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691640"/>
            <a:ext cx="3429000" cy="21031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3" y="190195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700" b="1">
                <a:solidFill>
                  <a:srgbClr val="00919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23317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800" b="1">
                <a:solidFill>
                  <a:srgbClr val="162F4F"/>
                </a:solidFill>
                <a:latin typeface="Aptos"/>
              </a:defRPr>
            </a:pPr>
            <a:r>
              <a:t>Activate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76148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657484"/>
                </a:solidFill>
                <a:latin typeface="Aptos"/>
              </a:defRPr>
            </a:pPr>
            <a:r>
              <a:t>Present decision-ready views in an interactive Power BI dashboard with customer, category and shipping filters.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18795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00919B"/>
                </a:solidFill>
                <a:latin typeface="Aptos"/>
              </a:defRPr>
            </a:pPr>
            <a:r>
              <a:t>DATA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1772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t>3,900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1480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657484"/>
                </a:solidFill>
                <a:latin typeface="Aptos"/>
              </a:defRPr>
            </a:pPr>
            <a:r>
              <a:t>purchase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461772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51480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657484"/>
                </a:solidFill>
                <a:latin typeface="Aptos"/>
              </a:defRPr>
            </a:pPr>
            <a:r>
              <a:t>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61772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51480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657484"/>
                </a:solidFill>
                <a:latin typeface="Aptos"/>
              </a:defRPr>
            </a:pPr>
            <a:r>
              <a:t>product 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461772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51480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657484"/>
                </a:solidFill>
                <a:latin typeface="Aptos"/>
              </a:defRPr>
            </a:pPr>
            <a:r>
              <a:t>locations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96712"/>
            <a:ext cx="10744200" cy="502920"/>
          </a:xfrm>
          <a:prstGeom prst="roundRect">
            <a:avLst>
              <a:gd name="adj" fmla="val 12000"/>
            </a:avLst>
          </a:prstGeom>
          <a:solidFill>
            <a:srgbClr val="F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815584"/>
            <a:ext cx="10241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63342"/>
                </a:solidFill>
                <a:latin typeface="Aptos"/>
              </a:defRPr>
            </a:pPr>
            <a:r>
              <a:t>Interpretation note: transaction-level findings are descriptive; the source report does not establish causality or provide a time-series trend.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00919B"/>
                </a:solidFill>
                <a:latin typeface="Aptos"/>
              </a:defRPr>
            </a:pPr>
            <a:r>
              <a:t>CUSTOMER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rPr dirty="0"/>
              <a:t>Loyalty is the strongest visible asset—and subscription is a conversion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2881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57484"/>
                </a:solidFill>
                <a:latin typeface="Aptos"/>
              </a:defRPr>
            </a:pPr>
            <a:r>
              <a:t>CUSTOMER SHOPPING BEHAVIOUR ANALYSIS  •  SOURCE: PROVIDED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6574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CUSTOMER SEGMENT MIX  |  n = 3,900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1284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Loyal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2212848"/>
            <a:ext cx="3154680" cy="24688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874519" y="2212848"/>
            <a:ext cx="3154680" cy="246888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19456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162F4F"/>
                </a:solidFill>
                <a:latin typeface="Aptos"/>
              </a:defRPr>
            </a:pPr>
            <a:r>
              <a:t>3,116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26080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Returning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2926080"/>
            <a:ext cx="3154680" cy="24688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874519" y="2926080"/>
            <a:ext cx="709701" cy="246888"/>
          </a:xfrm>
          <a:prstGeom prst="roundRect">
            <a:avLst>
              <a:gd name="adj" fmla="val 12000"/>
            </a:avLst>
          </a:prstGeom>
          <a:solidFill>
            <a:srgbClr val="27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29077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162F4F"/>
                </a:solidFill>
                <a:latin typeface="Aptos"/>
              </a:defRPr>
            </a:pPr>
            <a:r>
              <a:t>701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3931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New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3639312"/>
            <a:ext cx="3154680" cy="24688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874519" y="3639312"/>
            <a:ext cx="84030" cy="246888"/>
          </a:xfrm>
          <a:prstGeom prst="roundRect">
            <a:avLst>
              <a:gd name="adj" fmla="val 12000"/>
            </a:avLst>
          </a:prstGeom>
          <a:solidFill>
            <a:srgbClr val="E5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60" y="3621024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162F4F"/>
                </a:solidFill>
                <a:latin typeface="Aptos"/>
              </a:defRPr>
            </a:pPr>
            <a: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262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700" b="1">
                <a:solidFill>
                  <a:srgbClr val="162F4F"/>
                </a:solidFill>
                <a:latin typeface="Aptos"/>
              </a:defRPr>
            </a:pPr>
            <a:r>
              <a:t>79.9% of customers are classified as loyal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92624"/>
            <a:ext cx="46634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657484"/>
                </a:solidFill>
                <a:latin typeface="Aptos"/>
              </a:defRPr>
            </a:pPr>
            <a:r>
              <a:t>Loyalty is a strong base; the next question is frequency, retention and value over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1691640"/>
            <a:ext cx="5074920" cy="425196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82512" y="196596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00919B"/>
                </a:solidFill>
                <a:latin typeface="Aptos"/>
              </a:defRPr>
            </a:pPr>
            <a:r>
              <a:t>SUBSCRIPTION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51460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657484"/>
                </a:solidFill>
                <a:latin typeface="Aptos"/>
              </a:defRPr>
            </a:pPr>
            <a:r>
              <a:t>SUBSCRIBERS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880360"/>
            <a:ext cx="20574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t>1,053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2044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263342"/>
                </a:solidFill>
                <a:latin typeface="Aptos"/>
              </a:defRPr>
            </a:pPr>
            <a:r>
              <a:t>27% of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51460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657484"/>
                </a:solidFill>
                <a:latin typeface="Aptos"/>
              </a:defRPr>
            </a:pPr>
            <a:r>
              <a:t>NON-SUBSCRIBERS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2880360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t>2,847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5204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263342"/>
                </a:solidFill>
                <a:latin typeface="Aptos"/>
              </a:defRPr>
            </a:pPr>
            <a:r>
              <a:t>73% of customers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087368"/>
            <a:ext cx="4389120" cy="13716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32511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Avg. spend: $59.49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32511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Avg. spend: $59.87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9204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657484"/>
                </a:solidFill>
                <a:latin typeface="Aptos"/>
              </a:defRPr>
            </a:pPr>
            <a:r>
              <a:t>Implication: test subscription value propositions around convenience, access or loyalty benefits; measure incremental retention and margin.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00919B"/>
                </a:solidFill>
                <a:latin typeface="Aptos"/>
              </a:defRPr>
            </a:pPr>
            <a:r>
              <a:t>REVENUE &amp;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t>Revenue is broadly distributed across age groups; category mix is concentrated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27938" y="1124712"/>
            <a:ext cx="777521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0">
                <a:solidFill>
                  <a:srgbClr val="657484"/>
                </a:solidFill>
                <a:latin typeface="Aptos"/>
              </a:defRPr>
            </a:pPr>
            <a:r>
              <a:rPr dirty="0"/>
              <a:t>The report shows modest age-group revenue differences and Clothing as the largest category in the dashboard.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2881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57484"/>
                </a:solidFill>
                <a:latin typeface="Aptos"/>
              </a:defRPr>
            </a:pPr>
            <a:r>
              <a:t>CUSTOMER SHOPPING BEHAVIOUR ANALYSIS  •  SOURCE: PROVIDED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6574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REVENUE BY AGE GROUP  |  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263342"/>
                </a:solidFill>
                <a:latin typeface="Aptos"/>
              </a:defRPr>
            </a:pPr>
            <a:r>
              <a:t>Young Adult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4288" y="2176272"/>
            <a:ext cx="2697480" cy="219456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04288" y="2176272"/>
            <a:ext cx="2697480" cy="219456"/>
          </a:xfrm>
          <a:prstGeom prst="roundRect">
            <a:avLst>
              <a:gd name="adj" fmla="val 12000"/>
            </a:avLst>
          </a:prstGeom>
          <a:solidFill>
            <a:srgbClr val="27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93208" y="2157984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$62.1k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98064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263342"/>
                </a:solidFill>
                <a:latin typeface="Aptos"/>
              </a:defRPr>
            </a:pPr>
            <a:r>
              <a:t>Middle-aged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2798064"/>
            <a:ext cx="2697480" cy="219456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04288" y="2798064"/>
            <a:ext cx="2569601" cy="219456"/>
          </a:xfrm>
          <a:prstGeom prst="roundRect">
            <a:avLst>
              <a:gd name="adj" fmla="val 12000"/>
            </a:avLst>
          </a:prstGeom>
          <a:solidFill>
            <a:srgbClr val="739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93208" y="277977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$59.2k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19856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263342"/>
                </a:solidFill>
                <a:latin typeface="Aptos"/>
              </a:defRPr>
            </a:pPr>
            <a:r>
              <a:t>Adult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04288" y="3419856"/>
            <a:ext cx="2697480" cy="219456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304288" y="3419856"/>
            <a:ext cx="2429871" cy="219456"/>
          </a:xfrm>
          <a:prstGeom prst="roundRect">
            <a:avLst>
              <a:gd name="adj" fmla="val 12000"/>
            </a:avLst>
          </a:prstGeom>
          <a:solidFill>
            <a:srgbClr val="739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93208" y="3401568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$56.0k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41648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263342"/>
                </a:solidFill>
                <a:latin typeface="Aptos"/>
              </a:defRPr>
            </a:pPr>
            <a:r>
              <a:t>Senior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04288" y="4041648"/>
            <a:ext cx="2697480" cy="219456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304288" y="4041648"/>
            <a:ext cx="2420539" cy="219456"/>
          </a:xfrm>
          <a:prstGeom prst="roundRect">
            <a:avLst>
              <a:gd name="adj" fmla="val 12000"/>
            </a:avLst>
          </a:prstGeom>
          <a:solidFill>
            <a:srgbClr val="739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93208" y="402336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$55.8k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7433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500" b="1">
                <a:solidFill>
                  <a:srgbClr val="162F4F"/>
                </a:solidFill>
                <a:latin typeface="Aptos"/>
              </a:defRPr>
            </a:pPr>
            <a:r>
              <a:t>Young Adults lead, but age-group revenue spans only ~$6.4k.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49824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0">
                <a:solidFill>
                  <a:srgbClr val="657484"/>
                </a:solidFill>
                <a:latin typeface="Aptos"/>
              </a:defRPr>
            </a:pPr>
            <a:r>
              <a:t>Use age as a targeting dimension—not a substitute for behavioral signals.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691640"/>
            <a:ext cx="4937760" cy="429768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196596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00919B"/>
                </a:solidFill>
                <a:latin typeface="Aptos"/>
              </a:defRPr>
            </a:pPr>
            <a:r>
              <a:t>DASHBOARD CATEGORY 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42316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000" b="1">
                <a:solidFill>
                  <a:srgbClr val="162F4F"/>
                </a:solidFill>
                <a:latin typeface="Aptos"/>
              </a:defRPr>
            </a:pPr>
            <a:r>
              <a:t>Clothing leads revenue and sales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971800"/>
            <a:ext cx="4160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0">
                <a:solidFill>
                  <a:srgbClr val="263342"/>
                </a:solidFill>
                <a:latin typeface="Aptos"/>
              </a:defRPr>
            </a:pPr>
            <a:r>
              <a:t>The dashboard ranks Clothing first, followed by Accessories, Footwear and Outerwear.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3886200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63342"/>
                </a:solidFill>
                <a:latin typeface="Aptos"/>
              </a:defRPr>
            </a:pPr>
            <a:r>
              <a:t>Clothing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3886200"/>
            <a:ext cx="2514600" cy="182880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5392" y="427939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63342"/>
                </a:solidFill>
                <a:latin typeface="Aptos"/>
              </a:defRPr>
            </a:pPr>
            <a:r>
              <a:t>Accessories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279392"/>
            <a:ext cx="2061972" cy="182880"/>
          </a:xfrm>
          <a:prstGeom prst="roundRect">
            <a:avLst>
              <a:gd name="adj" fmla="val 12000"/>
            </a:avLst>
          </a:prstGeom>
          <a:solidFill>
            <a:srgbClr val="27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4672584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63342"/>
                </a:solidFill>
                <a:latin typeface="Aptos"/>
              </a:defRPr>
            </a:pPr>
            <a:r>
              <a:t>Footwear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4672584"/>
            <a:ext cx="1609344" cy="182880"/>
          </a:xfrm>
          <a:prstGeom prst="roundRect">
            <a:avLst>
              <a:gd name="adj" fmla="val 12000"/>
            </a:avLst>
          </a:prstGeom>
          <a:solidFill>
            <a:srgbClr val="729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65392" y="506577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63342"/>
                </a:solidFill>
                <a:latin typeface="Aptos"/>
              </a:defRPr>
            </a:pPr>
            <a:r>
              <a:t>Outerwear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5065776"/>
            <a:ext cx="1156716" cy="182880"/>
          </a:xfrm>
          <a:prstGeom prst="roundRect">
            <a:avLst>
              <a:gd name="adj" fmla="val 12000"/>
            </a:avLst>
          </a:prstGeom>
          <a:solidFill>
            <a:srgbClr val="E5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55961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Prioritize assortment visibility; validate margin and stock availability.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00919B"/>
                </a:solidFill>
                <a:latin typeface="Aptos"/>
              </a:defRPr>
            </a:pPr>
            <a:r>
              <a:t>PRODUCT &amp;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t>Product-level signals can improve merchandising and promotion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4496" y="1207008"/>
            <a:ext cx="659139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0">
                <a:solidFill>
                  <a:srgbClr val="657484"/>
                </a:solidFill>
                <a:latin typeface="Aptos"/>
              </a:defRPr>
            </a:pPr>
            <a:r>
              <a:rPr dirty="0"/>
              <a:t>Combine customer demand and ratings with offer economics before scaling campaigns.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2881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57484"/>
                </a:solidFill>
                <a:latin typeface="Aptos"/>
              </a:defRPr>
            </a:pPr>
            <a:r>
              <a:t>CUSTOMER SHOPPING BEHAVIOUR ANALYSIS  •  SOURCE: PROVIDED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6574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257800" cy="4343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00919B"/>
                </a:solidFill>
                <a:latin typeface="Aptos"/>
              </a:defRPr>
            </a:pPr>
            <a:r>
              <a:t>TOP-RATED PRODUCTS  |  AVG.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Gloves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67712" y="2487168"/>
            <a:ext cx="2560320" cy="20116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67712" y="2487168"/>
            <a:ext cx="1976567" cy="201168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45973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3.86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063240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Sandals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67712" y="3063240"/>
            <a:ext cx="2560320" cy="20116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267712" y="3063240"/>
            <a:ext cx="1966325" cy="201168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303580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3.84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63931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Boots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67712" y="3639312"/>
            <a:ext cx="2560320" cy="20116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267712" y="3639312"/>
            <a:ext cx="1956084" cy="201168"/>
          </a:xfrm>
          <a:prstGeom prst="roundRect">
            <a:avLst>
              <a:gd name="adj" fmla="val 12000"/>
            </a:avLst>
          </a:prstGeom>
          <a:solidFill>
            <a:srgbClr val="27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361188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3.82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21538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Hat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67712" y="4215384"/>
            <a:ext cx="2560320" cy="20116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267712" y="4215384"/>
            <a:ext cx="1945843" cy="201168"/>
          </a:xfrm>
          <a:prstGeom prst="roundRect">
            <a:avLst>
              <a:gd name="adj" fmla="val 12000"/>
            </a:avLst>
          </a:prstGeom>
          <a:solidFill>
            <a:srgbClr val="27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3480" y="41879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3.80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91456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Skirt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67712" y="4791456"/>
            <a:ext cx="2560320" cy="20116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267712" y="4791456"/>
            <a:ext cx="1935601" cy="201168"/>
          </a:xfrm>
          <a:prstGeom prst="roundRect">
            <a:avLst>
              <a:gd name="adj" fmla="val 12000"/>
            </a:avLst>
          </a:prstGeom>
          <a:solidFill>
            <a:srgbClr val="27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83480" y="4764024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3.78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513832"/>
            <a:ext cx="44805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Use high-rated items as campaign anchors; ratings are tightly clustered.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1691640"/>
            <a:ext cx="5257800" cy="4343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1938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E5A43E"/>
                </a:solidFill>
                <a:latin typeface="Aptos"/>
              </a:defRPr>
            </a:pPr>
            <a:r>
              <a:t>HIGHEST DISCOUNT INCIDENCE  | 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248716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99831" y="2487168"/>
            <a:ext cx="2560320" cy="20116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799831" y="2487168"/>
            <a:ext cx="2327563" cy="201168"/>
          </a:xfrm>
          <a:prstGeom prst="roundRect">
            <a:avLst>
              <a:gd name="adj" fmla="val 12000"/>
            </a:avLst>
          </a:prstGeom>
          <a:solidFill>
            <a:srgbClr val="E5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97312" y="2459736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50.0%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3063240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Sneakers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99831" y="3063240"/>
            <a:ext cx="2560320" cy="20116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99831" y="3063240"/>
            <a:ext cx="2311736" cy="201168"/>
          </a:xfrm>
          <a:prstGeom prst="roundRect">
            <a:avLst>
              <a:gd name="adj" fmla="val 12000"/>
            </a:avLst>
          </a:prstGeom>
          <a:solidFill>
            <a:srgbClr val="E5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97312" y="303580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49.7%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363931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Coat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99831" y="3639312"/>
            <a:ext cx="2560320" cy="20116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799831" y="3639312"/>
            <a:ext cx="2284270" cy="201168"/>
          </a:xfrm>
          <a:prstGeom prst="roundRect">
            <a:avLst>
              <a:gd name="adj" fmla="val 12000"/>
            </a:avLst>
          </a:prstGeom>
          <a:solidFill>
            <a:srgbClr val="E5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497312" y="361188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49.1%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3952" y="421538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Sweater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99831" y="4215384"/>
            <a:ext cx="2560320" cy="20116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799831" y="4215384"/>
            <a:ext cx="2242374" cy="201168"/>
          </a:xfrm>
          <a:prstGeom prst="roundRect">
            <a:avLst>
              <a:gd name="adj" fmla="val 12000"/>
            </a:avLst>
          </a:prstGeom>
          <a:solidFill>
            <a:srgbClr val="E5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497312" y="418795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48.2%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4791456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263342"/>
                </a:solidFill>
                <a:latin typeface="Aptos"/>
              </a:defRPr>
            </a:pPr>
            <a:r>
              <a:t>Pants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99831" y="4791456"/>
            <a:ext cx="2560320" cy="201168"/>
          </a:xfrm>
          <a:prstGeom prst="roundRect">
            <a:avLst>
              <a:gd name="adj" fmla="val 12000"/>
            </a:avLst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799831" y="4791456"/>
            <a:ext cx="2205133" cy="201168"/>
          </a:xfrm>
          <a:prstGeom prst="roundRect">
            <a:avLst>
              <a:gd name="adj" fmla="val 12000"/>
            </a:avLst>
          </a:prstGeom>
          <a:solidFill>
            <a:srgbClr val="E5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497312" y="4764024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162F4F"/>
                </a:solidFill>
                <a:latin typeface="Aptos"/>
              </a:defRPr>
            </a:pPr>
            <a:r>
              <a:t>47.4%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5513832"/>
            <a:ext cx="45262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Audit lift and contribution margin before repeating offers on these items.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00919B"/>
                </a:solidFill>
                <a:latin typeface="Aptos"/>
              </a:defRPr>
            </a:pPr>
            <a:r>
              <a:t>EXECUTION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t>Operational and assortment levers are measurable—but require margin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4488" y="1124712"/>
            <a:ext cx="759866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0">
                <a:solidFill>
                  <a:srgbClr val="657484"/>
                </a:solidFill>
                <a:latin typeface="Aptos"/>
              </a:defRPr>
            </a:pPr>
            <a:r>
              <a:rPr dirty="0"/>
              <a:t>Reported comparisons point to testable initiatives rather than definitive causal conclusions.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2881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57484"/>
                </a:solidFill>
                <a:latin typeface="Aptos"/>
              </a:defRPr>
            </a:pPr>
            <a:r>
              <a:t>CUSTOMER SHOPPING BEHAVIOUR ANALYSIS  •  SOURCE: PROVIDED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6574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3246120" cy="4160520"/>
          </a:xfrm>
          <a:prstGeom prst="roundRect">
            <a:avLst>
              <a:gd name="adj" fmla="val 12000"/>
            </a:avLst>
          </a:prstGeom>
          <a:solidFill>
            <a:srgbClr val="16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98DCDB"/>
                </a:solidFill>
                <a:latin typeface="Aptos"/>
              </a:defRPr>
            </a:pPr>
            <a:r>
              <a:t>AVERAGE PURCHASE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42032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Express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$60.48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5760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CDDCEB"/>
                </a:solidFill>
                <a:latin typeface="Aptos"/>
              </a:defRPr>
            </a:pPr>
            <a:r>
              <a:t>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14215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$58.46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93776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CDDCEB"/>
                </a:solidFill>
                <a:latin typeface="Aptos"/>
              </a:defRPr>
            </a:pPr>
            <a:r>
              <a:t>+$2.02 observed with Express; association only, not proof of shipping-driven uplift.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74519"/>
            <a:ext cx="73152" cy="502920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4568" y="1828800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400" b="1">
                <a:solidFill>
                  <a:srgbClr val="162F4F"/>
                </a:solidFill>
                <a:latin typeface="Aptos"/>
              </a:defRPr>
            </a:pPr>
            <a:r>
              <a:t>Repeat buyers are a meaningful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103120"/>
            <a:ext cx="6675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3,476 customers have &gt;5 purchases; 958 are subscribers and 2,518 are not. Test lifecycle messaging and subscription conversion.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108960"/>
            <a:ext cx="73152" cy="502920"/>
          </a:xfrm>
          <a:prstGeom prst="roundRect">
            <a:avLst>
              <a:gd name="adj" fmla="val 12000"/>
            </a:avLst>
          </a:prstGeom>
          <a:solidFill>
            <a:srgbClr val="27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44568" y="3063240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400" b="1">
                <a:solidFill>
                  <a:srgbClr val="162F4F"/>
                </a:solidFill>
                <a:latin typeface="Aptos"/>
              </a:defRPr>
            </a:pPr>
            <a:r>
              <a:t>Category leaders point to clear merchandising anchors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337560"/>
            <a:ext cx="6675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rPr dirty="0"/>
              <a:t>Examples include Jewelry and Blouse (171 purchases each), plus Sandals (160) and Jacket (163) in the report’s category rankings.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343400"/>
            <a:ext cx="73152" cy="502920"/>
          </a:xfrm>
          <a:prstGeom prst="roundRect">
            <a:avLst>
              <a:gd name="adj" fmla="val 12000"/>
            </a:avLst>
          </a:prstGeom>
          <a:solidFill>
            <a:srgbClr val="E5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4297680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400" b="1">
                <a:solidFill>
                  <a:srgbClr val="162F4F"/>
                </a:solidFill>
                <a:latin typeface="Aptos"/>
              </a:defRPr>
            </a:pPr>
            <a:r>
              <a:t>Use targeted experimentation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572000"/>
            <a:ext cx="6675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Compare conversion, repeat rate, average order value and contribution margin across customer cohorts and offer/shipping treatments.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596128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162F4F"/>
                </a:solidFill>
                <a:latin typeface="Aptos"/>
              </a:defRPr>
            </a:pPr>
            <a:r>
              <a:t>Decision principle: scale only where incremental gross profit and retention improve.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00919B"/>
                </a:solidFill>
                <a:latin typeface="Aptos"/>
              </a:defRPr>
            </a:pPr>
            <a:r>
              <a:t>INVESTMENT &amp;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"/>
              </a:defRPr>
            </a:pPr>
            <a:r>
              <a:rPr dirty="0"/>
              <a:t>A focused 90-day plan can turn descriptive insight into measurable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4686" y="1124712"/>
            <a:ext cx="599846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0">
                <a:solidFill>
                  <a:srgbClr val="657484"/>
                </a:solidFill>
                <a:latin typeface="Aptos"/>
              </a:defRPr>
            </a:pPr>
            <a:r>
              <a:rPr dirty="0"/>
              <a:t>Prioritize low-regret tests, establish baselines and scale only on incremental economics.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2881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57484"/>
                </a:solidFill>
                <a:latin typeface="Aptos"/>
              </a:defRPr>
            </a:pPr>
            <a:r>
              <a:t>CUSTOMER SHOPPING BEHAVIOUR ANALYSIS  •  SOURCE: PROVIDED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6574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5166360" cy="15727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892808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00919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865376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62F4F"/>
                </a:solidFill>
                <a:latin typeface="Aptos"/>
              </a:defRPr>
            </a:pPr>
            <a:r>
              <a:t>Retain &amp; reactivate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258568"/>
            <a:ext cx="3977639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Build lifecycle journeys for returning and loyal customers; trigger replenishment and re-engagement by purchase cadence.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916936"/>
            <a:ext cx="397763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2767A5"/>
                </a:solidFill>
                <a:latin typeface="Aptos"/>
              </a:defRPr>
            </a:pPr>
            <a:r>
              <a:t>KPI  Repeat rate • 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91640"/>
            <a:ext cx="5166360" cy="15727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892808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00919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865376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62F4F"/>
                </a:solidFill>
                <a:latin typeface="Aptos"/>
              </a:defRPr>
            </a:pPr>
            <a:r>
              <a:t>Convert subscriptions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258568"/>
            <a:ext cx="3977639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Pilot exclusive benefits with non-subscribers, especially frequent buyers; measure incremental conversion and churn.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916936"/>
            <a:ext cx="397763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2767A5"/>
                </a:solidFill>
                <a:latin typeface="Aptos"/>
              </a:defRPr>
            </a:pPr>
            <a:r>
              <a:t>KPI  Subscriber conversion • LTV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93592"/>
            <a:ext cx="5166360" cy="15727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79476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00919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76732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62F4F"/>
                </a:solidFill>
                <a:latin typeface="Aptos"/>
              </a:defRPr>
            </a:pPr>
            <a:r>
              <a:t>Protect promotion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4160520"/>
            <a:ext cx="3977639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Run controlled tests on discount-dependent products; set guardrails on discount depth and contribution profit.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4818888"/>
            <a:ext cx="397763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2767A5"/>
                </a:solidFill>
                <a:latin typeface="Aptos"/>
              </a:defRPr>
            </a:pPr>
            <a:r>
              <a:t>KPI  Incremental margin • promo lift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593592"/>
            <a:ext cx="5166360" cy="15727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379476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00919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76732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1">
                <a:solidFill>
                  <a:srgbClr val="162F4F"/>
                </a:solidFill>
                <a:latin typeface="Aptos"/>
              </a:defRPr>
            </a:pPr>
            <a:r>
              <a:t>Merchandise with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160520"/>
            <a:ext cx="3977639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57484"/>
                </a:solidFill>
                <a:latin typeface="Aptos"/>
              </a:defRPr>
            </a:pPr>
            <a:r>
              <a:t>Feature best-selling and high-rated products; test age and express-shipping segments as hypotheses.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818888"/>
            <a:ext cx="397763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2767A5"/>
                </a:solidFill>
                <a:latin typeface="Aptos"/>
              </a:defRPr>
            </a:pPr>
            <a:r>
              <a:t>KPI  Conversion • AOV • margin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715000"/>
            <a:ext cx="10835640" cy="475488"/>
          </a:xfrm>
          <a:prstGeom prst="roundRect">
            <a:avLst>
              <a:gd name="adj" fmla="val 12000"/>
            </a:avLst>
          </a:prstGeom>
          <a:solidFill>
            <a:srgbClr val="16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5833872"/>
            <a:ext cx="10332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NEXT STEP  |  Instrument cohort-level tests and connect behavior metrics to gross margin and customer lifetime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948</Words>
  <Application>Microsoft Office PowerPoint</Application>
  <PresentationFormat>Widescreen</PresentationFormat>
  <Paragraphs>171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2026-10-16T11:02:21Z</dcterms:modified>
  <cp:category/>
</cp:coreProperties>
</file>